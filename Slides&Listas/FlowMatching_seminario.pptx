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18288000" cy="10287000"/>
  <p:notesSz cx="6858000" cy="9144000"/>
  <p:embeddedFontLst>
    <p:embeddedFont>
      <p:font typeface="Arimo Bold" charset="1" panose="020B0704020202020204"/>
      <p:regular r:id="rId8"/>
    </p:embeddedFont>
    <p:embeddedFont>
      <p:font typeface="Arimo" charset="1" panose="020B0604020202020204"/>
      <p:regular r:id="rId9"/>
    </p:embeddedFon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CAPA. Combinem quem abre. Nome do colega precisa ser preenchido.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0:00–0:30 · Leia os dois blocos rápido e vá embora. Não gaste mais de 30s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0:30–1:30 · Abra pelo resultado. 'Difusão é um caso particular de uma família mais geral — CNFs. Ninguém usava porque treinar custava centenas de vezes mais. Este artigo resolve isso.' Aponte a convenção t=0 ruído / t=1 dados e diga que é o inverso de DDPM.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1:30–3:30 · A ANALOGIA. Nuvem de poeira numa sala; no instante 0 está espalhada, no instante 1 formou uma escultura. O que moveu os grãos foi vento — direção e força diferentes em cada ponto, mudando no tempo. Gerar = soltar um grão e deixar o vento levar. Feche com: 'o problema do artigo inteiro cabe em quatro palavras: como descobrir o vento?' TETO RÍGIDO: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3:30–5:00 · Faça a conta em voz alta, não diga só 'é caro'. 250 a 600 avaliações por passo (Tabela 1 traz 274, 428, 601), e ainda retropropaga por todas. 400 a 1200 vezes um passo de difusão. E é sequencial: não paraleliza. Introduza 'simulation-free'.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5:00–6:30 · A ideia mais natural do mundo é uma regressão banal — e é inútil. Marque as duas razões com o dedo: não conheço p_t, e não conheço u_t (que é o alvo). 'Guardem essa frustração.'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6:30–8:30 · PAUSA ANTES. A frase que o público leva pra casa: pare de aprender o movimento da nuvem inteira, ensine a rede a seguir UM grão de destino por vez. Mostre que a única diferença entre as duas equações é a barra.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6:30–8:30 (continuação) · Antecipe a objeção: 'cada exemplo puxa pra um lado, isso é treino sabotado'. Não é: regressão L2 converge para a média condicional, e essa média é exatamente a equação 8. A regressão faz a marginalização de graça.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[A] 8:30–9:00 · Uma frase por teorema, NÃO prove nada. PASSAGEM DE BASTÃO combinada: 'o treino é possível. Mas falta dizer qual caminho a gente escolhe e qual é o alvo concreto. É aí que o/a (nome) entra.'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9:30–11:30 · Retome em 20s, não recomece. Só as duas pontas são obrigatórias; no meio, qualquer função diferenciável — essa é a liberdade que difusão não tem. Venda o Teorema 3 como uma fábrica: escolheu mu e sigma, derivou, tem o 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11:30–14:00 · SEU SLIDE MAIS FORTE. 'Qual é o caminho mais simples possível? Linear.' Aponte que o alvo não tem t nenhum: constante no tempo, logo linha reta e velocidade constante. A Figura 2 faz o argumento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11:30–14:00 (continuação) · Leia a tabela em voz alta. Termine amarrando: linha reta é o caso mais fácil para um solver de EDO — é esse o fio que liga a escolha teórica ao número da próxima tabela.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14:00–15:30 · O treino inteiro sem simulação nenhuma. Se sobrar fôlego, leia o exemplo numérico: mesma entrada, alvos +4 e −4, a rede converge para a média — é o Teorema 1 acontecendo dentro do otimizador. CORTE DE EMERGÊNCIA: pule 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15:30–17:30 · GOLPE 1: mesma arquitetura, só muda a perda. CIFAR-10: DDPM 3,12 / 7,48 / 274 contra FM-OT 2,99 / 6,35 / 142. Ganha nas TRÊS ao mesmo tempo, o que é raro. ImageNet-64 repete o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15:30–17:30 (continuação) · GOLPE 2 (treino): baseline usa 4,36M iterações com batch 256; FM usa 500k com batch 1500 — 33% menos imagens, com modelo 20% maior. GOLPE 3 (geração): 60% das avaliações. CORTE DE EMERGÊNCIA: mostre só o número dos 60%.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17:30–18:15 · Esta parte vale mais que os resultados numa banca. Seja específico: cada trajetória condicional é reta, mas o campo médio é uma média de retas que se cruzam. O nome 'OT' descreve o caminho condicional, não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[B] 18:15–19:00 · Amarre com a abertura. Esta formulação substituiu difusão como padrão de fato: é a base do Stable Diffusion 3 e de boa parte dos modelos de vídeo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53" y="7982102"/>
            <a:ext cx="2100253" cy="2100253"/>
            <a:chOff x="0" y="0"/>
            <a:chExt cx="2800337" cy="28003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0350" cy="2800350"/>
            </a:xfrm>
            <a:custGeom>
              <a:avLst/>
              <a:gdLst/>
              <a:ahLst/>
              <a:cxnLst/>
              <a:rect r="r" b="b" t="t" l="l"/>
              <a:pathLst>
                <a:path h="28003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2800350"/>
                  </a:lnTo>
                  <a:lnTo>
                    <a:pt x="0" y="280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67205" y="7187896"/>
            <a:ext cx="2108835" cy="1114777"/>
            <a:chOff x="0" y="0"/>
            <a:chExt cx="2811780" cy="1486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1780" cy="1486408"/>
            </a:xfrm>
            <a:custGeom>
              <a:avLst/>
              <a:gdLst/>
              <a:ahLst/>
              <a:cxnLst/>
              <a:rect r="r" b="b" t="t" l="l"/>
              <a:pathLst>
                <a:path h="1486408" w="2811780">
                  <a:moveTo>
                    <a:pt x="0" y="0"/>
                  </a:moveTo>
                  <a:lnTo>
                    <a:pt x="2811780" y="0"/>
                  </a:lnTo>
                  <a:lnTo>
                    <a:pt x="2811780" y="1486408"/>
                  </a:lnTo>
                  <a:lnTo>
                    <a:pt x="0" y="1486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118977" y="4126571"/>
            <a:ext cx="1809531" cy="933955"/>
            <a:chOff x="0" y="0"/>
            <a:chExt cx="2412708" cy="1245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2746" cy="1245235"/>
            </a:xfrm>
            <a:custGeom>
              <a:avLst/>
              <a:gdLst/>
              <a:ahLst/>
              <a:cxnLst/>
              <a:rect r="r" b="b" t="t" l="l"/>
              <a:pathLst>
                <a:path h="1245235" w="2412746">
                  <a:moveTo>
                    <a:pt x="0" y="0"/>
                  </a:moveTo>
                  <a:lnTo>
                    <a:pt x="2412746" y="0"/>
                  </a:lnTo>
                  <a:lnTo>
                    <a:pt x="2412746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20" t="-7103" r="-4045" b="-539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9350" y="3188568"/>
            <a:ext cx="867242" cy="933955"/>
            <a:chOff x="0" y="0"/>
            <a:chExt cx="1156322" cy="1245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633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156335">
                  <a:moveTo>
                    <a:pt x="0" y="0"/>
                  </a:moveTo>
                  <a:lnTo>
                    <a:pt x="1156335" y="0"/>
                  </a:lnTo>
                  <a:lnTo>
                    <a:pt x="115633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299" t="-7103" r="-219312" b="-539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87188" y="6229053"/>
            <a:ext cx="1467641" cy="625412"/>
            <a:chOff x="0" y="0"/>
            <a:chExt cx="1956854" cy="833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6816" cy="833882"/>
            </a:xfrm>
            <a:custGeom>
              <a:avLst/>
              <a:gdLst/>
              <a:ahLst/>
              <a:cxnLst/>
              <a:rect r="r" b="b" t="t" l="l"/>
              <a:pathLst>
                <a:path h="833882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3944" r="-1" b="-5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16690" y="5399454"/>
            <a:ext cx="1209132" cy="825551"/>
            <a:chOff x="0" y="0"/>
            <a:chExt cx="1612176" cy="1100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2138" cy="1100709"/>
            </a:xfrm>
            <a:custGeom>
              <a:avLst/>
              <a:gdLst/>
              <a:ahLst/>
              <a:cxnLst/>
              <a:rect r="r" b="b" t="t" l="l"/>
              <a:pathLst>
                <a:path h="1100709" w="1612138">
                  <a:moveTo>
                    <a:pt x="0" y="0"/>
                  </a:moveTo>
                  <a:lnTo>
                    <a:pt x="1612138" y="0"/>
                  </a:lnTo>
                  <a:lnTo>
                    <a:pt x="1612138" y="1100709"/>
                  </a:lnTo>
                  <a:lnTo>
                    <a:pt x="0" y="110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6464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00000" y="1500000"/>
            <a:ext cx="13288000" cy="17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1" sz="58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Flow Matching for Generative Modeling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0000" y="4550000"/>
            <a:ext cx="13288000" cy="12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3000" b="1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Seminário em dupla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82470" y="2401853"/>
            <a:ext cx="1100776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Apoio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00000" y="7350000"/>
            <a:ext cx="4288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00000" y="6900000"/>
            <a:ext cx="4288000" cy="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Goiânia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00000" y="3350000"/>
            <a:ext cx="13288000" cy="7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</a:pPr>
            <a:r>
              <a:rPr lang="en-US" b="0" sz="2800">
                <a:solidFill>
                  <a:srgbClr val="4A5568"/>
                </a:solidFill>
                <a:latin typeface="Arimo"/>
                <a:ea typeface="Arimo Bold"/>
                <a:cs typeface="Arimo Bold"/>
                <a:sym typeface="Arimo Bold"/>
              </a:rPr>
              <a:t>Lipman, Chen, Ben-Hamu, Nickel &amp; Le  ·  Meta AI / Weizmann  ·  ICLR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0000" y="5150000"/>
            <a:ext cx="13288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600"/>
              </a:spcBef>
            </a:pPr>
            <a:r>
              <a:rPr sz="2600" b="0">
                <a:solidFill>
                  <a:srgbClr val="4A5568"/>
                </a:solidFill>
                <a:latin typeface="Arimo"/>
              </a:rPr>
              <a:t>Cleiver  ·  (nome do colega)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0" y="6000000"/>
            <a:ext cx="13288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600"/>
              </a:spcBef>
            </a:pPr>
            <a:r>
              <a:rPr sz="2200" b="0">
                <a:solidFill>
                  <a:srgbClr val="4A5568"/>
                </a:solidFill>
                <a:latin typeface="Arimo"/>
              </a:rPr>
              <a:t>arXiv:2210.02747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Roteiro — 20 minutos, em dupla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180000"/>
            <a:ext cx="6960650" cy="50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48700" y="2560000"/>
            <a:ext cx="612065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200" b="1">
                <a:solidFill>
                  <a:srgbClr val="0072B9"/>
                </a:solidFill>
                <a:latin typeface="Arimo"/>
              </a:rPr>
              <a:t>BLOCO 1  ·  0 – 9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8700" y="3080000"/>
            <a:ext cx="612065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3200" b="1">
                <a:solidFill>
                  <a:srgbClr val="212121"/>
                </a:solidFill>
                <a:latin typeface="Arimo"/>
              </a:rPr>
              <a:t>O problema e a virada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8700" y="4080000"/>
            <a:ext cx="6120650" cy="2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O que é um CNF — e por que era caro demais</a:t>
            </a: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A perda ideal, e por que ela é intratável</a:t>
            </a: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A virada: condicionar em um único dado</a:t>
            </a: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Teoremas 1 e 2 — o treino fica possível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9350" y="2180000"/>
            <a:ext cx="6960650" cy="50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09350" y="2560000"/>
            <a:ext cx="612065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200" b="1">
                <a:solidFill>
                  <a:srgbClr val="0072B9"/>
                </a:solidFill>
                <a:latin typeface="Arimo"/>
              </a:rPr>
              <a:t>BLOCO 2  ·  9 – 18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9350" y="3080000"/>
            <a:ext cx="612065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3200" b="1">
                <a:solidFill>
                  <a:srgbClr val="212121"/>
                </a:solidFill>
                <a:latin typeface="Arimo"/>
              </a:rPr>
              <a:t>O mecanismo e os números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9350" y="4080000"/>
            <a:ext cx="6120650" cy="2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Caminhos gaussianos e o Teorema 3</a:t>
            </a: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O caminho de Transporte Ótimo (OT)</a:t>
            </a: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O algoritmo de treino em 6 linhas</a:t>
            </a: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•  Resultados, limitações e impacto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A pergunta que guia tudo: como descobrir o campo vetorial que transforma ruído em dados?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Difusão é um caso particular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530000"/>
            <a:ext cx="144213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500" b="0">
                <a:solidFill>
                  <a:srgbClr val="4A5568"/>
                </a:solidFill>
                <a:latin typeface="Arimo"/>
              </a:rPr>
              <a:t>Este artigo treina Continuous Normalizing Flows em escala pela primeira vez — e gera melhor.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2330000"/>
            <a:ext cx="81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3400" b="1">
                <a:solidFill>
                  <a:srgbClr val="0072B9"/>
                </a:solidFill>
                <a:latin typeface="Arimo"/>
              </a:rPr>
              <a:t>Melhor em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950000"/>
            <a:ext cx="81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Verossimilhança e qualidade de imagem melhoram juntas — o que é raro.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950000"/>
            <a:ext cx="81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3400" b="1">
                <a:solidFill>
                  <a:srgbClr val="0072B9"/>
                </a:solidFill>
                <a:latin typeface="Arimo"/>
              </a:rPr>
              <a:t>33% menos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570000"/>
            <a:ext cx="81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imagens processadas no treino do ImageNet 128×128.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5570000"/>
            <a:ext cx="81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3400" b="1">
                <a:solidFill>
                  <a:srgbClr val="0072B9"/>
                </a:solidFill>
                <a:latin typeface="Arimo"/>
              </a:rPr>
              <a:t>60% das avaliações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6190000"/>
            <a:ext cx="81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da rede para gerar uma amostra com o mesmo erro numérico.</a:t>
            </a:r>
          </a:p>
        </p:txBody>
      </p:sp>
      <p:pic>
        <p:nvPicPr>
          <p:cNvPr id="16" name="Picture 15" descr="i1-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000" y="2210000"/>
            <a:ext cx="5300000" cy="5300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Convenção deste artigo:  t = 0 → ruído   ·   t = 1 → dados   (o inverso de DDPM)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Um campo vetorial move a poeira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530000"/>
            <a:ext cx="144213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500" b="0">
                <a:solidFill>
                  <a:srgbClr val="4A5568"/>
                </a:solidFill>
                <a:latin typeface="Arimo"/>
              </a:rPr>
              <a:t>Uma rede neural diz, para cada posição e cada instante, para onde o grão deve ir.</a:t>
            </a:r>
          </a:p>
        </p:txBody>
      </p:sp>
      <p:pic>
        <p:nvPicPr>
          <p:cNvPr id="10" name="Picture 9" descr="c_v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350" y="2370000"/>
            <a:ext cx="10530000" cy="390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8700" y="6450000"/>
            <a:ext cx="4580433" cy="162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28700" y="6700000"/>
            <a:ext cx="3980433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500" b="1">
                <a:solidFill>
                  <a:srgbClr val="0072B9"/>
                </a:solidFill>
                <a:latin typeface="Arimo"/>
              </a:rPr>
              <a:t>campo vetorial  vₜ(x)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700" y="7240000"/>
            <a:ext cx="3980433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o “vento”: uma seta em cada ponto e instante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9133" y="6450000"/>
            <a:ext cx="4580433" cy="162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49133" y="6700000"/>
            <a:ext cx="3980433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500" b="1">
                <a:solidFill>
                  <a:srgbClr val="0072B9"/>
                </a:solidFill>
                <a:latin typeface="Arimo"/>
              </a:rPr>
              <a:t>fluxo  φₜ(x)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9133" y="7240000"/>
            <a:ext cx="3980433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a trajetória — onde o grão foi parar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69566" y="6450000"/>
            <a:ext cx="4580433" cy="162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169566" y="6700000"/>
            <a:ext cx="3980433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500" b="1">
                <a:solidFill>
                  <a:srgbClr val="0072B9"/>
                </a:solidFill>
                <a:latin typeface="Arimo"/>
              </a:rPr>
              <a:t>CNF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9566" y="7240000"/>
            <a:ext cx="3980433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usar uma rede neural como o vento</a:t>
            </a:r>
          </a:p>
        </p:txBody>
      </p:sp>
      <p:pic>
        <p:nvPicPr>
          <p:cNvPr id="20" name="Picture 19" descr="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350" y="8270000"/>
            <a:ext cx="6800000" cy="7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Por que ninguém treinava CNF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530000"/>
            <a:ext cx="144213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500" b="0">
                <a:solidFill>
                  <a:srgbClr val="4A5568"/>
                </a:solidFill>
                <a:latin typeface="Arimo"/>
              </a:rPr>
              <a:t>Cada passo de gradiente exigia resolver a EDO — e retropropagar por toda a simulação.</a:t>
            </a:r>
          </a:p>
        </p:txBody>
      </p:sp>
      <p:pic>
        <p:nvPicPr>
          <p:cNvPr id="10" name="Picture 9" descr="c_cus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628" y="2450000"/>
            <a:ext cx="14281444" cy="510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simulation-free  =  uma avaliação da rede por passo de treino.  Difusão tinha. CNF não tinha.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A ideia óbvia — e por que ela falha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6</a:t>
            </a:r>
          </a:p>
        </p:txBody>
      </p:sp>
      <p:pic>
        <p:nvPicPr>
          <p:cNvPr id="9" name="Picture 8" descr="f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061" y="2230000"/>
            <a:ext cx="12148578" cy="11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28700" y="3780000"/>
            <a:ext cx="6960650" cy="29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48700" y="4110000"/>
            <a:ext cx="612065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900" b="1">
                <a:solidFill>
                  <a:srgbClr val="C2410C"/>
                </a:solidFill>
                <a:latin typeface="Arimo"/>
              </a:rPr>
              <a:t>1.   pₜ  você não conhece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8700" y="4880000"/>
            <a:ext cx="612065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Você quer terminar na distribuição das imagens, mas só tem amostras dela — nunca a fórmula.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89350" y="3780000"/>
            <a:ext cx="6960650" cy="29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09350" y="4110000"/>
            <a:ext cx="612065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900" b="1">
                <a:solidFill>
                  <a:srgbClr val="C2410C"/>
                </a:solidFill>
                <a:latin typeface="Arimo"/>
              </a:rPr>
              <a:t>2.   uₜ  você não conhece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9350" y="4880000"/>
            <a:ext cx="612065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E esse é o alvo da regressão: é exatamente o objeto que estamos procurando.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Regressão contra uma função que não sabemos calcular: objetivo intratável.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A virada: um único dado por vez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210000"/>
            <a:ext cx="14421300" cy="1500000"/>
          </a:xfrm>
          <a:prstGeom prst="roundRect">
            <a:avLst>
              <a:gd name="adj" fmla="val 4500"/>
            </a:avLst>
          </a:prstGeom>
          <a:solidFill>
            <a:srgbClr val="F6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48700" y="2730000"/>
            <a:ext cx="2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600" b="1">
                <a:solidFill>
                  <a:srgbClr val="C2410C"/>
                </a:solidFill>
                <a:latin typeface="Arimo"/>
              </a:rPr>
              <a:t>✗  impossível</a:t>
            </a:r>
          </a:p>
        </p:txBody>
      </p:sp>
      <p:pic>
        <p:nvPicPr>
          <p:cNvPr id="11" name="Picture 10" descr="fm_b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776" y="2460000"/>
            <a:ext cx="9543147" cy="100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28700" y="4110000"/>
            <a:ext cx="14421300" cy="150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48700" y="4630000"/>
            <a:ext cx="2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600" b="1">
                <a:solidFill>
                  <a:srgbClr val="004C7C"/>
                </a:solidFill>
                <a:latin typeface="Arimo"/>
              </a:rPr>
              <a:t>✓  tratável</a:t>
            </a:r>
          </a:p>
        </p:txBody>
      </p:sp>
      <p:pic>
        <p:nvPicPr>
          <p:cNvPr id="14" name="Picture 13" descr="cfm_go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700" y="4373452"/>
            <a:ext cx="10521300" cy="9730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8700" y="6010000"/>
            <a:ext cx="144213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3100" b="1">
                <a:solidFill>
                  <a:srgbClr val="212121"/>
                </a:solidFill>
                <a:latin typeface="Arimo"/>
              </a:rPr>
              <a:t>A única diferença é a barra.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2500" b="0">
                <a:solidFill>
                  <a:srgbClr val="212121"/>
                </a:solidFill>
                <a:latin typeface="Arimo"/>
              </a:rPr>
              <a:t>x₁ é uma imagem do seu dataset. Condicionado a ela, caminho e campo têm fórmula fechada.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Regressão L2 já calcula médias sozinha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8</a:t>
            </a:r>
          </a:p>
        </p:txBody>
      </p:sp>
      <p:pic>
        <p:nvPicPr>
          <p:cNvPr id="9" name="Picture 8" descr="c_med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330435"/>
            <a:ext cx="8500000" cy="41391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8700" y="2300000"/>
            <a:ext cx="5521300" cy="2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sz="2400" b="0">
                <a:solidFill>
                  <a:srgbClr val="212121"/>
                </a:solidFill>
                <a:latin typeface="Arimo"/>
              </a:rPr>
              <a:t>Minimizar  E‖f(x) − Y‖²  com um alvo Y que muda a cada amostra não converge para nenhum dos alvos.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sz="2600" b="1">
                <a:solidFill>
                  <a:srgbClr val="0072B9"/>
                </a:solidFill>
                <a:latin typeface="Arimo"/>
              </a:rPr>
              <a:t>Converge para a média condicional  E[Y | x].</a:t>
            </a:r>
          </a:p>
        </p:txBody>
      </p:sp>
      <p:pic>
        <p:nvPicPr>
          <p:cNvPr id="11" name="Picture 10" descr="ma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8700" y="5139035"/>
            <a:ext cx="5521300" cy="9819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8700" y="6330000"/>
            <a:ext cx="55213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300" b="0">
                <a:solidFill>
                  <a:srgbClr val="4A5568"/>
                </a:solidFill>
                <a:latin typeface="Arimo"/>
              </a:rPr>
              <a:t>E essa média é exatamente o campo marginal da equação 8 — o objeto que não sabíamos calcular.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A contradição aparente entre os alvos não é um bug — é o mecanismo.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Dois teoremas fecham o argumento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250000"/>
            <a:ext cx="6960650" cy="415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48700" y="2580000"/>
            <a:ext cx="612065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200" b="1">
                <a:solidFill>
                  <a:srgbClr val="0072B9"/>
                </a:solidFill>
                <a:latin typeface="Arimo"/>
              </a:rPr>
              <a:t>TEOREMA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8700" y="3150000"/>
            <a:ext cx="6120650" cy="2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sz="2800" b="1">
                <a:solidFill>
                  <a:srgbClr val="212121"/>
                </a:solidFill>
                <a:latin typeface="Arimo"/>
              </a:rPr>
              <a:t>A média dos campos condicionais gera a média dos caminhos.</a:t>
            </a:r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sz="2200" b="0">
                <a:solidFill>
                  <a:srgbClr val="4A5568"/>
                </a:solidFill>
                <a:latin typeface="Arimo"/>
              </a:rPr>
              <a:t>Não era óbvio: médias de campos vetoriais raramente se comportam tão bem.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9350" y="2250000"/>
            <a:ext cx="6960650" cy="415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09350" y="2580000"/>
            <a:ext cx="612065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200" b="1">
                <a:solidFill>
                  <a:srgbClr val="0072B9"/>
                </a:solidFill>
                <a:latin typeface="Arimo"/>
              </a:rPr>
              <a:t>TEOREMA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9350" y="3150000"/>
            <a:ext cx="612065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800" b="1">
                <a:solidFill>
                  <a:srgbClr val="212121"/>
                </a:solidFill>
                <a:latin typeface="Arimo"/>
              </a:rPr>
              <a:t>As duas perdas têm exatamente o mesmo gradiente.</a:t>
            </a:r>
          </a:p>
        </p:txBody>
      </p:sp>
      <p:pic>
        <p:nvPicPr>
          <p:cNvPr id="15" name="Picture 14" descr="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350" y="4703226"/>
            <a:ext cx="6120650" cy="6935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09350" y="5530000"/>
            <a:ext cx="612065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200" b="0">
                <a:solidFill>
                  <a:srgbClr val="4A5568"/>
                </a:solidFill>
                <a:latin typeface="Arimo"/>
              </a:rPr>
              <a:t>Diferem por uma constante independente de 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Falta dizer: qual caminho escolher, e qual é o alvo concreto do treino.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Uma fábrica de caminhos gaussianos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530000"/>
            <a:ext cx="144213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500" b="0">
                <a:solidFill>
                  <a:srgbClr val="4A5568"/>
                </a:solidFill>
                <a:latin typeface="Arimo"/>
              </a:rPr>
              <a:t>Escolha μₜ e σₜ como quiser. Só as duas pontas são obrigatórias.</a:t>
            </a:r>
          </a:p>
        </p:txBody>
      </p:sp>
      <p:pic>
        <p:nvPicPr>
          <p:cNvPr id="10" name="Picture 9" descr="gau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228" y="2300000"/>
            <a:ext cx="12016243" cy="110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8700" y="3610000"/>
            <a:ext cx="14421300" cy="132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ondgau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00" y="3946303"/>
            <a:ext cx="13621300" cy="6473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700" y="5390000"/>
            <a:ext cx="144213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500" b="1">
                <a:solidFill>
                  <a:srgbClr val="0072B9"/>
                </a:solidFill>
                <a:latin typeface="Arimo"/>
              </a:rPr>
              <a:t>TEOREMA 3   —   o alvo da regressão, em forma fechada</a:t>
            </a:r>
          </a:p>
        </p:txBody>
      </p:sp>
      <p:pic>
        <p:nvPicPr>
          <p:cNvPr id="14" name="Picture 13" descr="thm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544" y="6090000"/>
            <a:ext cx="12873611" cy="1550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Com os μ e σ de um processo VP, essa fórmula recupera difusão exatamente.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A escolha mais simples: linear no tempo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11</a:t>
            </a:r>
          </a:p>
        </p:txBody>
      </p:sp>
      <p:pic>
        <p:nvPicPr>
          <p:cNvPr id="9" name="Picture 8" descr="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213799"/>
            <a:ext cx="14421300" cy="97240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28700" y="3410000"/>
            <a:ext cx="14421300" cy="190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alv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00" y="3723875"/>
            <a:ext cx="6600000" cy="772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28700" y="3890000"/>
            <a:ext cx="6421300" cy="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600" b="1">
                <a:solidFill>
                  <a:srgbClr val="004C7C"/>
                </a:solidFill>
                <a:latin typeface="Arimo"/>
              </a:rPr>
              <a:t>não depende de t  →  trajetórias retas, velocidade constante</a:t>
            </a:r>
          </a:p>
        </p:txBody>
      </p:sp>
      <p:pic>
        <p:nvPicPr>
          <p:cNvPr id="13" name="Picture 12" descr="fi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980" y="5690000"/>
            <a:ext cx="12946739" cy="215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8700" y="7940000"/>
            <a:ext cx="144213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000" b="0">
                <a:solidFill>
                  <a:srgbClr val="4A5568"/>
                </a:solidFill>
                <a:latin typeface="Arimo"/>
              </a:rPr>
              <a:t>Figura 2 do artigo: a direção do campo condicional OT (direita) é constante no tempo; a de difusão (esquerda) não é.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Difusão curva, OT reta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12</a:t>
            </a:r>
          </a:p>
        </p:txBody>
      </p:sp>
      <p:pic>
        <p:nvPicPr>
          <p:cNvPr id="9" name="Picture 8" descr="i6-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480000"/>
            <a:ext cx="2950000" cy="295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8700" y="5550000"/>
            <a:ext cx="29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600"/>
              </a:spcBef>
            </a:pPr>
            <a:r>
              <a:rPr sz="2500" b="1">
                <a:solidFill>
                  <a:srgbClr val="212121"/>
                </a:solidFill>
                <a:latin typeface="Arimo"/>
              </a:rPr>
              <a:t>Difusão</a:t>
            </a:r>
          </a:p>
        </p:txBody>
      </p:sp>
      <p:pic>
        <p:nvPicPr>
          <p:cNvPr id="11" name="Picture 10" descr="i6-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700" y="2480000"/>
            <a:ext cx="2950000" cy="295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78700" y="5550000"/>
            <a:ext cx="29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600"/>
              </a:spcBef>
            </a:pPr>
            <a:r>
              <a:rPr sz="2500" b="1">
                <a:solidFill>
                  <a:srgbClr val="212121"/>
                </a:solidFill>
                <a:latin typeface="Arimo"/>
              </a:rPr>
              <a:t>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6110000"/>
            <a:ext cx="6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600"/>
              </a:spcBef>
            </a:pPr>
            <a:r>
              <a:rPr sz="2000" b="0">
                <a:solidFill>
                  <a:srgbClr val="4A5568"/>
                </a:solidFill>
                <a:latin typeface="Arimo"/>
              </a:rPr>
              <a:t>Figura 3 do artigo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700" y="2550000"/>
            <a:ext cx="242460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000" b="1">
                <a:solidFill>
                  <a:srgbClr val="0072B9"/>
                </a:solidFill>
                <a:latin typeface="Arim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7048" y="2550000"/>
            <a:ext cx="2737455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1">
                <a:solidFill>
                  <a:srgbClr val="0072B9"/>
                </a:solidFill>
                <a:latin typeface="Arimo"/>
              </a:rPr>
              <a:t>DIFUSÃO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60036" y="2550000"/>
            <a:ext cx="2111751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1">
                <a:solidFill>
                  <a:srgbClr val="0072B9"/>
                </a:solidFill>
                <a:latin typeface="Arimo"/>
              </a:rPr>
              <a:t>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8700" y="3180000"/>
            <a:ext cx="7821300" cy="7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08700" y="3350000"/>
            <a:ext cx="242460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000" b="1">
                <a:solidFill>
                  <a:srgbClr val="4A5568"/>
                </a:solidFill>
                <a:latin typeface="Arimo"/>
              </a:rPr>
              <a:t>Trajetórias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7048" y="3350000"/>
            <a:ext cx="2737455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curvas, com overshoot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60036" y="3350000"/>
            <a:ext cx="2111751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1">
                <a:solidFill>
                  <a:srgbClr val="212121"/>
                </a:solidFill>
                <a:latin typeface="Arimo"/>
              </a:rPr>
              <a:t>retas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8700" y="3980000"/>
            <a:ext cx="7821300" cy="700000"/>
          </a:xfrm>
          <a:prstGeom prst="roundRect">
            <a:avLst>
              <a:gd name="adj" fmla="val 45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08700" y="4150000"/>
            <a:ext cx="242460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000" b="1">
                <a:solidFill>
                  <a:srgbClr val="4A5568"/>
                </a:solidFill>
                <a:latin typeface="Arimo"/>
              </a:rPr>
              <a:t>Direção do alvo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27048" y="4150000"/>
            <a:ext cx="2737455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muda com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60036" y="4150000"/>
            <a:ext cx="2111751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1">
                <a:solidFill>
                  <a:srgbClr val="212121"/>
                </a:solidFill>
                <a:latin typeface="Arimo"/>
              </a:rPr>
              <a:t>constante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8700" y="4780000"/>
            <a:ext cx="7821300" cy="7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08700" y="4950000"/>
            <a:ext cx="242460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000" b="1">
                <a:solidFill>
                  <a:srgbClr val="4A5568"/>
                </a:solidFill>
                <a:latin typeface="Arimo"/>
              </a:rPr>
              <a:t>Chega no ruído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27048" y="4950000"/>
            <a:ext cx="2737455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assintoticamente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60036" y="4950000"/>
            <a:ext cx="2111751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1">
                <a:solidFill>
                  <a:srgbClr val="212121"/>
                </a:solidFill>
                <a:latin typeface="Arimo"/>
              </a:rPr>
              <a:t>exato em t =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Linha reta é o caso mais fácil para um solver de EDO: menos passos, geração mais barata.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O treino inteiro, em 6 linhas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230000"/>
            <a:ext cx="6960650" cy="552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48700" y="2650000"/>
            <a:ext cx="6120650" cy="4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400" b="0">
                <a:solidFill>
                  <a:srgbClr val="212121"/>
                </a:solidFill>
                <a:latin typeface="Liberation Mono"/>
              </a:rPr>
              <a:t>1.  x₁  ~  dataset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400" b="0">
                <a:solidFill>
                  <a:srgbClr val="212121"/>
                </a:solidFill>
                <a:latin typeface="Liberation Mono"/>
              </a:rPr>
              <a:t>2.  x₀  ~  N(0, I)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400" b="0">
                <a:solidFill>
                  <a:srgbClr val="212121"/>
                </a:solidFill>
                <a:latin typeface="Liberation Mono"/>
              </a:rPr>
              <a:t>3.  t   ~  U[0, 1]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400" b="0">
                <a:solidFill>
                  <a:srgbClr val="212121"/>
                </a:solidFill>
                <a:latin typeface="Liberation Mono"/>
              </a:rPr>
              <a:t>4.  x    =  (1−t)·x₀ + t·x₁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400" b="0">
                <a:solidFill>
                  <a:srgbClr val="212121"/>
                </a:solidFill>
                <a:latin typeface="Liberation Mono"/>
              </a:rPr>
              <a:t>5.  alvo =  x₁ − x₀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2400" b="0">
                <a:solidFill>
                  <a:srgbClr val="212121"/>
                </a:solidFill>
                <a:latin typeface="Liberation Mono"/>
              </a:rPr>
              <a:t>6.  loss = ‖v(x,t;θ) − alvo‖²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9350" y="2230000"/>
            <a:ext cx="6960650" cy="552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09350" y="2630000"/>
            <a:ext cx="612065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100" b="1">
                <a:solidFill>
                  <a:srgbClr val="004C7C"/>
                </a:solidFill>
                <a:latin typeface="Arimo"/>
              </a:rPr>
              <a:t>EXEMPLO NUMÉRICO  (1D, σ_min ≈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9350" y="3280000"/>
            <a:ext cx="6120650" cy="3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500" b="1">
                <a:solidFill>
                  <a:srgbClr val="212121"/>
                </a:solidFill>
                <a:latin typeface="Arimo"/>
              </a:rPr>
              <a:t>x₁ = 3,  x₀ = −1,  t = 0,25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500" b="0">
                <a:solidFill>
                  <a:srgbClr val="004C7C"/>
                </a:solidFill>
                <a:latin typeface="Arimo"/>
              </a:rPr>
              <a:t>x = 0,0        alvo = +4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500" b="1">
                <a:solidFill>
                  <a:srgbClr val="212121"/>
                </a:solidFill>
                <a:latin typeface="Arimo"/>
              </a:rPr>
              <a:t>x₁ = −3,  x₀ = 1,  t = 0,25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500" b="0">
                <a:solidFill>
                  <a:srgbClr val="C2410C"/>
                </a:solidFill>
                <a:latin typeface="Arimo"/>
              </a:rPr>
              <a:t>x = 0,0        alvo = −4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200" b="0">
                <a:solidFill>
                  <a:srgbClr val="212121"/>
                </a:solidFill>
                <a:latin typeface="Arimo"/>
              </a:rPr>
              <a:t>Mesma entrada, alvos opostos. A rede converge para a média — que é a resposta certa.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Uma avaliação da rede por passo. Zero EDO. É isso que “simulation-free” significa.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Ganha nas três métricas ao mesmo tempo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1530000"/>
            <a:ext cx="144213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500" b="0">
                <a:solidFill>
                  <a:srgbClr val="4A5568"/>
                </a:solidFill>
                <a:latin typeface="Arimo"/>
              </a:rPr>
              <a:t>Mesma arquitetura, mesmos hiperparâmetros, mesmas iterações — só muda a função de perda.</a:t>
            </a:r>
          </a:p>
        </p:txBody>
      </p:sp>
      <p:pic>
        <p:nvPicPr>
          <p:cNvPr id="10" name="Picture 9" descr="table1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187" y="2390000"/>
            <a:ext cx="12496326" cy="43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700" y="6930000"/>
            <a:ext cx="144213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000" b="0">
                <a:solidFill>
                  <a:srgbClr val="4A5568"/>
                </a:solidFill>
                <a:latin typeface="Arimo"/>
              </a:rPr>
              <a:t>Tabela 1 do artigo  ·  NLL em bits/dim, FID e NFE — menor é melhor em todas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ImageNet 128×128:  FID 20,9  —  supera BigGAN não-condicional (25,3) e PGMGAN (21,7).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Treina mais rápido, gera mais barato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15</a:t>
            </a:r>
          </a:p>
        </p:txBody>
      </p:sp>
      <p:pic>
        <p:nvPicPr>
          <p:cNvPr id="9" name="Picture 8" descr="fig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930" y="2330000"/>
            <a:ext cx="5808189" cy="35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8700" y="5930000"/>
            <a:ext cx="696065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1">
                <a:solidFill>
                  <a:srgbClr val="4A5568"/>
                </a:solidFill>
                <a:latin typeface="Arimo"/>
              </a:rPr>
              <a:t>FID ao longo do treino (ImageNet 64×64)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212121"/>
                </a:solidFill>
                <a:latin typeface="Arimo"/>
              </a:rPr>
              <a:t>33% menos imagens processadas que o baseline de difusão no ImageNet-128.</a:t>
            </a:r>
          </a:p>
        </p:txBody>
      </p:sp>
      <p:pic>
        <p:nvPicPr>
          <p:cNvPr id="11" name="Picture 10" descr="c_n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350" y="2557031"/>
            <a:ext cx="6960650" cy="30459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89350" y="5930000"/>
            <a:ext cx="696065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1">
                <a:solidFill>
                  <a:srgbClr val="4A5568"/>
                </a:solidFill>
                <a:latin typeface="Arimo"/>
              </a:rPr>
              <a:t>Custo de gerar uma amostra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212121"/>
                </a:solidFill>
                <a:latin typeface="Arimo"/>
              </a:rPr>
              <a:t>60% das avaliações que difusão precisa para o mesmo erro numérico.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Trajetória reta não é elegância teórica: é GPU economizada no treino e na inferência.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As ressalvas honestas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16</a:t>
            </a:r>
          </a:p>
        </p:txBody>
      </p:sp>
      <p:pic>
        <p:nvPicPr>
          <p:cNvPr id="9" name="Picture 8" descr="c_mar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494444"/>
            <a:ext cx="7900000" cy="35111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8700" y="2210000"/>
            <a:ext cx="61213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400" b="1">
                <a:solidFill>
                  <a:srgbClr val="C2410C"/>
                </a:solidFill>
                <a:latin typeface="Arimo"/>
              </a:rPr>
              <a:t>O campo aprendido NÃO é transporte ótimo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8700" y="3210000"/>
            <a:ext cx="61213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200" b="0">
                <a:solidFill>
                  <a:srgbClr val="212121"/>
                </a:solidFill>
                <a:latin typeface="Arimo"/>
              </a:rPr>
              <a:t>É uma média de retas que se cruzam — e média de retas não é reta.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8700" y="4190000"/>
            <a:ext cx="61213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400" b="1">
                <a:solidFill>
                  <a:srgbClr val="C2410C"/>
                </a:solidFill>
                <a:latin typeface="Arimo"/>
              </a:rPr>
              <a:t>x₀ e x₁ são sorteados de forma independente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8700" y="5190000"/>
            <a:ext cx="61213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200" b="0">
                <a:solidFill>
                  <a:srgbClr val="212121"/>
                </a:solidFill>
                <a:latin typeface="Arimo"/>
              </a:rPr>
              <a:t>O que maximiza o cruzamento de trajetórias.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8700" y="6170000"/>
            <a:ext cx="61213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400" b="1">
                <a:solidFill>
                  <a:srgbClr val="C2410C"/>
                </a:solidFill>
                <a:latin typeface="Arimo"/>
              </a:rPr>
              <a:t>σ_min não é decoração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700" y="7170000"/>
            <a:ext cx="61213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200" b="0">
                <a:solidFill>
                  <a:srgbClr val="212121"/>
                </a:solidFill>
                <a:latin typeface="Arimo"/>
              </a:rPr>
              <a:t>Sem ele, σ₁ = 0 e o campo diverge em t =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" y="8690000"/>
            <a:ext cx="14421300" cy="56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8700" y="8840000"/>
            <a:ext cx="139013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2300" b="1">
                <a:solidFill>
                  <a:srgbClr val="004C7C"/>
                </a:solidFill>
                <a:latin typeface="Arimo"/>
              </a:rPr>
              <a:t>Foi essa lacuna que o rectified flow e o OT em minibatch atacaram depois.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00000"/>
            <a:ext cx="14421300" cy="1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1" sz="44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Por que este paper importa hoje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1" sz="2200">
                <a:solidFill>
                  <a:srgbClr val="212121"/>
                </a:solidFill>
                <a:latin typeface="Arimo"/>
                <a:ea typeface="Arimo Bold"/>
                <a:cs typeface="Arimo Bold"/>
                <a:sym typeface="Arimo Bold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250000"/>
            <a:ext cx="4540433" cy="38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88700" y="2580000"/>
            <a:ext cx="3820433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4000" b="1">
                <a:solidFill>
                  <a:srgbClr val="0072B9"/>
                </a:solidFill>
                <a:latin typeface="Arimo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8700" y="3380000"/>
            <a:ext cx="3820433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600" b="1">
                <a:solidFill>
                  <a:srgbClr val="212121"/>
                </a:solidFill>
                <a:latin typeface="Arimo"/>
              </a:rPr>
              <a:t>Convergência independente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8700" y="4300000"/>
            <a:ext cx="3820433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Rectified Flow e Stochastic Interpolants chegam à mesma família de ideias ao mesmo tempo.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9133" y="2250000"/>
            <a:ext cx="4540433" cy="3800000"/>
          </a:xfrm>
          <a:prstGeom prst="roundRect">
            <a:avLst>
              <a:gd name="adj" fmla="val 4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29133" y="2580000"/>
            <a:ext cx="3820433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4000" b="1">
                <a:solidFill>
                  <a:srgbClr val="0072B9"/>
                </a:solidFill>
                <a:latin typeface="Arimo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9133" y="3380000"/>
            <a:ext cx="3820433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600" b="1">
                <a:solidFill>
                  <a:srgbClr val="212121"/>
                </a:solidFill>
                <a:latin typeface="Arimo"/>
              </a:rPr>
              <a:t>Flow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9133" y="4300000"/>
            <a:ext cx="3820433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CNFs treináveis em escala, com caminhos escolhidos em vez de herdados de um processo de ruído.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09566" y="2250000"/>
            <a:ext cx="4540433" cy="3800000"/>
          </a:xfrm>
          <a:prstGeom prst="roundRect">
            <a:avLst>
              <a:gd name="adj" fmla="val 4500"/>
            </a:avLst>
          </a:prstGeom>
          <a:solidFill>
            <a:srgbClr val="E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269566" y="2580000"/>
            <a:ext cx="3820433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4000" b="1">
                <a:solidFill>
                  <a:srgbClr val="0072B9"/>
                </a:solidFill>
                <a:latin typeface="Arimo"/>
              </a:rPr>
              <a:t>hoje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69566" y="3380000"/>
            <a:ext cx="3820433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600" b="1">
                <a:solidFill>
                  <a:srgbClr val="212121"/>
                </a:solidFill>
                <a:latin typeface="Arimo"/>
              </a:rPr>
              <a:t>O padrão de fato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9566" y="4300000"/>
            <a:ext cx="3820433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100" b="0">
                <a:solidFill>
                  <a:srgbClr val="212121"/>
                </a:solidFill>
                <a:latin typeface="Arimo"/>
              </a:rPr>
              <a:t>Interpolação linear com alvo de velocidade é a base do Stable Diffusion 3 e de modelos de vídeo.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6450000"/>
            <a:ext cx="144213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600" b="1">
                <a:solidFill>
                  <a:srgbClr val="212121"/>
                </a:solidFill>
                <a:latin typeface="Arimo"/>
              </a:rPr>
              <a:t>Um artigo que começa dizendo “vamos parar de pensar em processos estocásticos” virou o caminho que a área toda tomou.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7700000"/>
            <a:ext cx="144213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900" b="0">
                <a:solidFill>
                  <a:srgbClr val="4A5568"/>
                </a:solidFill>
                <a:latin typeface="Arimo"/>
              </a:rPr>
              <a:t>Lipman, Chen, Ben-Hamu, Nickel &amp; Le. Flow Matching for Generative Modeling. ICLR 2023 · arXiv:2210.02747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DAHS1bZSKlw</dc:identifier>
  <dcterms:modified xsi:type="dcterms:W3CDTF">2011-08-01T06:04:30Z</dcterms:modified>
  <cp:revision>1</cp:revision>
  <dc:title>Cópia de AMNS</dc:title>
</cp:coreProperties>
</file>