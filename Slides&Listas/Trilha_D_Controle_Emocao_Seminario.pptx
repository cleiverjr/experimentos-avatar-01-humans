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8288000" cy="10287000"/>
  <p:notesSz cx="6858000" cy="9144000"/>
  <p:embeddedFontLst>
    <p:embeddedFont>
      <p:font typeface="Arimo Bold" charset="1" panose="020B0704020202020204"/>
      <p:regular r:id="rId8"/>
    </p:embeddedFont>
    <p:embeddedFont>
      <p:font typeface="Arimo" charset="1" panose="020B0604020202020204"/>
      <p:regular r:id="rId9"/>
    </p:embeddedFon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53" y="7982102"/>
            <a:ext cx="2100253" cy="2100253"/>
            <a:chOff x="0" y="0"/>
            <a:chExt cx="2800337" cy="28003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0350" cy="2800350"/>
            </a:xfrm>
            <a:custGeom>
              <a:avLst/>
              <a:gdLst/>
              <a:ahLst/>
              <a:cxnLst/>
              <a:rect r="r" b="b" t="t" l="l"/>
              <a:pathLst>
                <a:path h="28003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2800350"/>
                  </a:lnTo>
                  <a:lnTo>
                    <a:pt x="0" y="280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67205" y="7187896"/>
            <a:ext cx="2108835" cy="1114777"/>
            <a:chOff x="0" y="0"/>
            <a:chExt cx="2811780" cy="1486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1780" cy="1486408"/>
            </a:xfrm>
            <a:custGeom>
              <a:avLst/>
              <a:gdLst/>
              <a:ahLst/>
              <a:cxnLst/>
              <a:rect r="r" b="b" t="t" l="l"/>
              <a:pathLst>
                <a:path h="1486408" w="2811780">
                  <a:moveTo>
                    <a:pt x="0" y="0"/>
                  </a:moveTo>
                  <a:lnTo>
                    <a:pt x="2811780" y="0"/>
                  </a:lnTo>
                  <a:lnTo>
                    <a:pt x="2811780" y="1486408"/>
                  </a:lnTo>
                  <a:lnTo>
                    <a:pt x="0" y="1486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118977" y="4126571"/>
            <a:ext cx="1809531" cy="933955"/>
            <a:chOff x="0" y="0"/>
            <a:chExt cx="2412708" cy="1245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2746" cy="1245235"/>
            </a:xfrm>
            <a:custGeom>
              <a:avLst/>
              <a:gdLst/>
              <a:ahLst/>
              <a:cxnLst/>
              <a:rect r="r" b="b" t="t" l="l"/>
              <a:pathLst>
                <a:path h="1245235" w="2412746">
                  <a:moveTo>
                    <a:pt x="0" y="0"/>
                  </a:moveTo>
                  <a:lnTo>
                    <a:pt x="2412746" y="0"/>
                  </a:lnTo>
                  <a:lnTo>
                    <a:pt x="2412746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20" t="-7103" r="-4045" b="-539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9350" y="3188568"/>
            <a:ext cx="867242" cy="933955"/>
            <a:chOff x="0" y="0"/>
            <a:chExt cx="1156322" cy="1245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633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156335">
                  <a:moveTo>
                    <a:pt x="0" y="0"/>
                  </a:moveTo>
                  <a:lnTo>
                    <a:pt x="1156335" y="0"/>
                  </a:lnTo>
                  <a:lnTo>
                    <a:pt x="115633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299" t="-7103" r="-219312" b="-539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87188" y="6229053"/>
            <a:ext cx="1467641" cy="625412"/>
            <a:chOff x="0" y="0"/>
            <a:chExt cx="1956854" cy="833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6816" cy="833882"/>
            </a:xfrm>
            <a:custGeom>
              <a:avLst/>
              <a:gdLst/>
              <a:ahLst/>
              <a:cxnLst/>
              <a:rect r="r" b="b" t="t" l="l"/>
              <a:pathLst>
                <a:path h="833882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3944" r="-1" b="-5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16690" y="5399454"/>
            <a:ext cx="1209132" cy="825551"/>
            <a:chOff x="0" y="0"/>
            <a:chExt cx="1612176" cy="1100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2138" cy="1100709"/>
            </a:xfrm>
            <a:custGeom>
              <a:avLst/>
              <a:gdLst/>
              <a:ahLst/>
              <a:cxnLst/>
              <a:rect r="r" b="b" t="t" l="l"/>
              <a:pathLst>
                <a:path h="1100709" w="1612138">
                  <a:moveTo>
                    <a:pt x="0" y="0"/>
                  </a:moveTo>
                  <a:lnTo>
                    <a:pt x="1612138" y="0"/>
                  </a:lnTo>
                  <a:lnTo>
                    <a:pt x="1612138" y="1100709"/>
                  </a:lnTo>
                  <a:lnTo>
                    <a:pt x="0" y="110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6464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638899" y="1571901"/>
            <a:ext cx="2899172" cy="90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Template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15780" y="2630453"/>
            <a:ext cx="107975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82757" y="4040648"/>
            <a:ext cx="1322487" cy="87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Template</a:t>
            </a:r>
          </a:p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Template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82470" y="2401853"/>
            <a:ext cx="1100776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Apoio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91867" y="7302798"/>
            <a:ext cx="921963" cy="56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29326" y="6916769"/>
            <a:ext cx="1049731" cy="42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Goiânia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02811" y="2845584"/>
            <a:ext cx="1882377" cy="60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</a:pPr>
            <a:r>
              <a:rPr lang="en-US" b="true" sz="3376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Template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8107" y="1832724"/>
            <a:ext cx="4903878" cy="55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7"/>
              </a:lnSpc>
            </a:pPr>
            <a:r>
              <a:rPr lang="en-US" b="true" sz="3299">
                <a:solidFill>
                  <a:srgbClr val="212121"/>
                </a:solidFill>
                <a:latin typeface="Roboto Bold"/>
                <a:ea typeface="Roboto Bold"/>
                <a:cs typeface="Roboto Bold"/>
                <a:sym typeface="Roboto Bold"/>
              </a:rPr>
              <a:t>Template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8434"/>
            <a:ext cx="5810053" cy="90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true" sz="5196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Templatee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‹#›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107" y="2803904"/>
            <a:ext cx="6170310" cy="44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599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8940"/>
            <a:ext cx="96012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4920" y="3680460"/>
            <a:ext cx="8138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PROJETO HUMANS • AKCIT</a:t>
            </a:r>
          </a:p>
          <a:p>
            <a:pPr>
              <a:spcAft>
                <a:spcPts val="1200"/>
              </a:spcAft>
              <a:defRPr sz="2800" b="1">
                <a:solidFill>
                  <a:srgbClr val="F8FAFC"/>
                </a:solidFill>
              </a:defRPr>
            </a:pPr>
            <a:r>
              <a:t>Trilha D: Controle, Emoção e Comportamento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Síntese Autônoma de Movimento Facial e Corporal a partir de Áudio e Texto (Sem Pose Explícita)</a:t>
            </a:r>
          </a:p>
          <a:p>
            <a:pPr>
              <a:defRPr sz="1300" b="1">
                <a:solidFill>
                  <a:srgbClr val="22C55E"/>
                </a:solidFill>
              </a:defRPr>
            </a:pPr>
            <a:r>
              <a:t>Pesquisador: Cleiver | Outubro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Onde a Trilha D se Encaixa no Projeto Humans?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Trilha A (Mateus)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Vídeo 2D Direto</a:t>
            </a:r>
            <a:br/>
            <a:r>
              <a:t>Foto + Áudio -&gt; Vídeo</a:t>
            </a:r>
            <a:br/>
            <a:r>
              <a:t>(SadTalker, LivePortrait, EMO)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A855F7"/>
                </a:solidFill>
              </a:defRPr>
            </a:pPr>
            <a:r>
              <a:t>Trilha B (Arthur)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Avatar 3D de 1 Foto</a:t>
            </a:r>
            <a:br/>
            <a:r>
              <a:t>Malha FLAME/SMPL-X</a:t>
            </a:r>
            <a:br/>
            <a:r>
              <a:t>A 'Marionete' 3D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Trilha C (Fernando)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Cabeças 3DGS Animáveis</a:t>
            </a:r>
            <a:br/>
            <a:r>
              <a:t>Gaussianas na malha</a:t>
            </a:r>
            <a:br/>
            <a:r>
              <a:t>A 'Pele' Fotográfica 3D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2C55E"/>
                </a:solidFill>
              </a:defRPr>
            </a:pPr>
            <a:r>
              <a:t>Trilha D (Cleiver)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Controle &amp; Emoção</a:t>
            </a:r>
            <a:br/>
            <a:r>
              <a:t>Áudio/Texto -&gt; Movimento</a:t>
            </a:r>
            <a:br/>
            <a:r>
              <a:t>O 'Maestro' / Titiriteiro</a:t>
            </a:r>
          </a:p>
          <a:p>
            <a:pPr>
              <a:defRPr sz="1050" b="1">
                <a:solidFill>
                  <a:srgbClr val="22C55E"/>
                </a:solidFill>
              </a:defRPr>
            </a:pPr>
            <a:r>
              <a:t>★ SEM A TRILHA D:</a:t>
            </a:r>
            <a:br/>
            <a:r>
              <a:t>As cabeças 3DGS e malhas ficam paralisadas ou precisam de webcam humana gravando o tempo todo.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As 6 Sementes da Trilha D: A Vanguarda do Estado da Arte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Motion Diffusion (MDM)  •  [Motor Matemático]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Resolve o problema 1-para-Muitos. Gera dinâmica estocástica suave sem colapso para a média.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2C55E"/>
                </a:solidFill>
              </a:defRPr>
            </a:pPr>
            <a:r>
              <a:t>VASA-1 (Microsoft, 2024)  •  [Tempo Real 40+ FPS]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Desacopla identidade estática, pose de cabeça rígida 3D e dinâmica facial em espaço latente.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</a:defRPr>
            </a:pPr>
            <a:r>
              <a:t>InstructAvatar (AAAI 2025)  •  [Direção por Texto]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Two-Branch Diffusion: a voz mantém lip-sync perfeito enquanto prompts de texto ditam a atuação dramática.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AUHead (ICLR 2026)  •  [Anatomia Muscular]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Passa pelo sistema FACS (Ekman). Controle cirúrgico dos músculos do rosto sem distorções caixa-preta.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217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355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Audio2Photoreal (Meta, CVPR 2024)  •  [Corpo Inteiro]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Sai do busto para corpo inteiro e gestos de mãos em diálogos naturais usando VQ-VAE + Difusão.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6217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6355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2C55E"/>
                </a:solidFill>
              </a:defRPr>
            </a:pPr>
            <a:r>
              <a:t>OmniHuman-1.5 (ByteDance, 2025)  •  [Cognição Dual]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Sistema 1 (reflexo reativo rápido) + Sistema 2 (planejamento deliberado via MLLM) para avatar com intenção.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 Problema Central: Por que Modelos Regressivos Clássicos Falham?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43F5E"/>
                </a:solidFill>
              </a:defRPr>
            </a:pPr>
            <a:r>
              <a:t>O Problema: Mapeamento 1-para-Muitos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Sincronia Labial é ~1-para-1: falar o fonema /m/ fecha a boca obrigatoriamente.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Movimento da Cabeça é 1-para-Muitos: para a mesma frase, você pode inclinar a cabeça à esquerda (+15°), à direita (-15°) ou assentir.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Colapso para a Média: Redes com perda MSE tentam adivinhar a média de todos os movimentos válidos. A média é ZERO.</a:t>
            </a:r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Resultado Clássico: Cabeça dura, estática, parecendo um boneco de ventríloquo.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</a:defRPr>
            </a:pPr>
            <a:r>
              <a:t>A Solução: Difusão Estocástica de Trajetória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Modelagem de Distribuição: Em vez de prever um valor fixo, o modelo amostra uma trajetória contínua plausível da distribuição real.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Denoising Temporal DDPM: Parte de ruído gaussiano puro e esculpe os ângulos de rotação (Yaw, Pitch, Roll) e translação condicionado no áudio e no texto.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Prova Empírica do Nosso Teste: Rodando o mesmo áudio com sementes de ruído diferentes, a distância L2 entre curvas foi de 0.1194.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Resultado: O avatar atua como um humano vivo — cada execução gera uma performance natural e única!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Resultados Experimentais: O Pipeline Operacional da Trilha D</a:t>
            </a:r>
          </a:p>
        </p:txBody>
      </p:sp>
      <p:pic>
        <p:nvPicPr>
          <p:cNvPr id="5" name="Picture 4" descr="dashboard_anim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6803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931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MÉTRICAS DO EXPERIMENTO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Aceleração de Hardware: Apple Silicon MPS (Metal)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Tempo de Difusão: 0.10 segundos (~900 FPS de parâmetros)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Taxa de Vídeo: 30 FPS contínuo sincronizado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Frontend Acústico: Log-Mel 80 canais + F0 + RMS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FACS / Ekman: 14 Action Units dinâmicas (AU12 sorriso, AU26 mandíbula, AU45 piscadas)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FLAME Compatibility: 50 coeficientes de expressão + rotação 3D de mandíbula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Exportação: Formatos padronizados JSON e tensores binários .NPZ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Do Esquemático ao Foto-Realismo: Animação Densa sobre Foto Real</a:t>
            </a:r>
          </a:p>
        </p:txBody>
      </p:sp>
      <p:pic>
        <p:nvPicPr>
          <p:cNvPr id="5" name="Picture 4" descr="vasa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47472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80560" y="1645920"/>
            <a:ext cx="6949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</a:defRPr>
            </a:pPr>
            <a:r>
              <a:t>Como o VASA-1 e o Nosso Renderizador Fazem a Foto se Mover?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1. Preservação de Identidade: A foto original estática de 1024x1024 fornece a textura dos poros, iluminação de estúdio e fios de barba.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2. Deformação Afim Densa (Delaunay Mesh Warping): Os pontos de controle da face sofrem translação e rotação com efeito de paralaxe 3D, mantendo a geometria elástica natural da pele.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3. Sincronia Labial com Cavidade Oral Real: Quando a amplitude do áudio abre a mandíbula (AU26), é sintetizada a sombra oclusal interna e o arco dental superior, sem cortes artificiais.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4. Síntese de Piscadas: As pálpebras cobrem a esclera e a íris com a textura exata da pele do sujeito em intervalos fisiológicos.</a:t>
            </a:r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Resultado: Vídeo MP4 (H.264 + AAC) a 30 FPS pronto para exibição e apresentação.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Demonstração Prática: Nuances Dramáticas Geradas por Texto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2C55E"/>
                </a:solidFill>
              </a:defRPr>
            </a:pPr>
            <a:r>
              <a:t>Experimento 1: Alegria &amp; Entusiasmo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• Prompt: 'Fale com muita alegria e entusiasmo, olhando para a esquerda'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Fala Real Sintetizada (TTS): 'Bem-vindos ao laboratório de humanos virtuais da nossa equipe!'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Resposta do Modelo:</a:t>
            </a:r>
            <a:br/>
            <a:r>
              <a:t>  - Rotação: Yaw = +15.0° (cabeça virada à esquerda)</a:t>
            </a:r>
            <a:br/>
            <a:r>
              <a:t>  - FACS: AU12 (sorriso) ativo em 0.65</a:t>
            </a:r>
            <a:br/>
            <a:r>
              <a:t>  - Olhos abertos com piscadas reflexas</a:t>
            </a:r>
            <a:br/>
            <a:r>
              <a:t>  - Mandíbula abrindo na cadência de cada palavra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Experimento 2: Raiva &amp; Firmeza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• Prompt: 'Fale com muita raiva e olhe para a direita balançando a cabeça afirmativo'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Fala Real Sintetizada (TTS): 'Isso é inadmissível! Não podemos aceitar esse resultado de jeito nenhum!'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Resposta do Modelo:</a:t>
            </a:r>
            <a:br/>
            <a:r>
              <a:t>  - Rotação: Yaw = -15.0° (cabeça virada à direita)</a:t>
            </a:r>
            <a:br/>
            <a:r>
              <a:t>  - Aceno: Oscilação contínua de Pitch (nodding enfático)</a:t>
            </a:r>
            <a:br/>
            <a:r>
              <a:t>  - FACS: AU04 (cenho franzido) contraído</a:t>
            </a:r>
            <a:br/>
            <a:r>
              <a:t>  - Lábios tensos acompanhando a dicção firme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Interface Inter-Trilhas: O Que a Trilha D Entrega para o Grupo?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Para o Fernando (Trilha C - 3DGS)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 Trilha C tem uma cabeça em Gaussianas 3D pronta para deformar, mas não sabe como mover.</a:t>
            </a:r>
            <a:br/>
            <a:br/>
            <a:r>
              <a:t>O QUE ENTREGO:</a:t>
            </a:r>
            <a:br/>
            <a:r>
              <a:t>• Vetor contínuo de rotação da cabeça (rotation_6d / Euler)</a:t>
            </a:r>
            <a:br/>
            <a:r>
              <a:t>• 50 coeficientes de expressão FLAME frame a frame</a:t>
            </a:r>
            <a:br/>
            <a:r>
              <a:t>• Ângulo de abertura de mandíbula</a:t>
            </a:r>
            <a:br/>
            <a:br/>
            <a:r>
              <a:t>-&gt; As gaussianas se movem sem precisar de ator na webcam!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A855F7"/>
                </a:solidFill>
              </a:defRPr>
            </a:pPr>
            <a:r>
              <a:t>Para o Arthur (Trilha B - Malha / Rigging)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 Trilha B gera a malha 3D e o esqueleto (a 'marionete').</a:t>
            </a:r>
            <a:br/>
            <a:br/>
            <a:r>
              <a:t>O QUE ENTREGO:</a:t>
            </a:r>
            <a:br/>
            <a:r>
              <a:t>• As 'linhas' que puxam a marionete:</a:t>
            </a:r>
            <a:br/>
            <a:r>
              <a:t>• Rotação dos ossos do pescoço e queixo</a:t>
            </a:r>
            <a:br/>
            <a:r>
              <a:t>• Pesos dos blendshapes faciais e Action Units FACS</a:t>
            </a:r>
            <a:br/>
            <a:br/>
            <a:r>
              <a:t>-&gt; A malha ganha vida autônoma e física crível.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Para o Mateus (Trilha A - Vídeo 2D)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Modelos 2D como LivePortrait ou SadTalker sofrem com cabeças duras se não tiverem um vídeo driver humano.</a:t>
            </a:r>
            <a:br/>
            <a:br/>
            <a:r>
              <a:t>O QUE ENTREGO:</a:t>
            </a:r>
            <a:br/>
            <a:r>
              <a:t>• Trajetórias latentes e sinais de controle de pose</a:t>
            </a:r>
            <a:br/>
            <a:r>
              <a:t>• Guia temporal de dinâmicas faciais</a:t>
            </a:r>
            <a:br/>
            <a:br/>
            <a:r>
              <a:t>-&gt; O vídeo 2D ganha naturalidade sem depender de driving video gravado.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82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TRILHA D: CONTROLE, EMOÇÃO E COMPORTAMENTO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682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Conclusão e Próximos Passos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070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2C55E"/>
                </a:solidFill>
              </a:defRPr>
            </a:pPr>
            <a:r>
              <a:t>Status Atual da Trilha D: 100% Validada e Operacional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Literatura Mapeada: VASA-1, InstructAvatar, AUHead, Audio2Photoreal, OmniHuman-1.5 e Motion Diffusion dominados.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Pipeline Implementado: Da extração acústica (Mel-80/RMS) à difusão temporal e deformação afim foto-realista.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Desafio '1-para-Muitos' Superado: Comprovado em testes com estocasticidade e inércia física no Apple Silicon MPS.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Exportação Pronta: Pacotes .npz e .json gerados para acoplamento imediato no 3DGS do Fernando e malha do Arthur.</a:t>
            </a:r>
          </a:p>
          <a:p>
            <a:br/>
            <a:pPr>
              <a:defRPr sz="1400" b="1">
                <a:solidFill>
                  <a:srgbClr val="38BDF8"/>
                </a:solidFill>
              </a:defRPr>
            </a:pPr>
            <a:r>
              <a:t>Próximo Passo: Plugar os tensores exportados diretamente no renderizador de GaussianAvatars do grupo.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DAHS1bZSKlw</dc:identifier>
  <dcterms:modified xsi:type="dcterms:W3CDTF">2011-08-01T06:04:30Z</dcterms:modified>
  <cp:revision>1</cp:revision>
  <dc:title>Cópia de AMNS</dc:title>
</cp:coreProperties>
</file>